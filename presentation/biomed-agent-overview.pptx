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822960"/>
            <a:ext cx="914400" cy="36576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BioMed-Agent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面向生物医学文献驱动多组学分析的多智能体系统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 for Biomedical Literature-Grounded Multi-Omics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4114800"/>
            <a:ext cx="8229600" cy="13716"/>
          </a:xfrm>
          <a:prstGeom prst="rect">
            <a:avLst/>
          </a:prstGeom>
          <a:solidFill>
            <a:srgbClr val="C8CDD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技术演讲 · 2026年6月 · github.com/Tubo2333/biomed-agent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生物医学研究的双重瓶颈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E4F0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850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文献危机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PubMed 年增 150 万篇论文</a:t>
            </a:r>
            <a:endParaRPr lang="en-US" sz="14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单个研究者无法持续追踪</a:t>
            </a:r>
            <a:endParaRPr lang="en-US" sz="14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证据分散在数千篇论文中</a:t>
            </a:r>
            <a:endParaRPr lang="en-US" sz="14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假说常基于不完整的文献综述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82296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E0F2E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68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850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数据碎片化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13258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TCGA / GEO / GDSC 公开可用</a:t>
            </a:r>
            <a:endParaRPr lang="en-US" sz="14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分析需生物信息学 + 统计 + 领域知识</a:t>
            </a:r>
            <a:endParaRPr lang="en-US" sz="14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分析管线碎片化，不可复现</a:t>
            </a:r>
            <a:endParaRPr lang="en-US" sz="14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无系统化方式将数据与文献证据连接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FBEBE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核心差距：尚无系统能在单一可验证管线中连接自动化文献综述与多组学分析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BioMed-Agent：四智能体协作管线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pic>
        <p:nvPicPr>
          <p:cNvPr id="5" name="Image 0" descr="D:\C-file\biomed-agent\paper\figures\fig1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43484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串行设计 — 每个智能体验证上游输出后再继续（Layer 4 交叉验证），错误不向下游传播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1：LiteratureAgent / 文献探员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E4F0F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19072" y="960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11680" y="86868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E0F2EF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9144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 PubMed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(≤3轮)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02152" y="960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94760" y="86868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0E6F5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9144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语义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B2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85232" y="960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577840" y="86868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BEBE9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9144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证据整合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(EvidenceLink)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68312" y="96012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60920" y="86868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E5F5EB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9144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假设生成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(1-3条)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2103120"/>
            <a:ext cx="8412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Think→Act→Observe 循环驱动多轮检索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三道闸门防无限循环：最多 3 轮 / 查询去重 / Token 预算 15,000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embedding 模型依赖 — 直接用 LLM 逐批打分 (LLM Rerank)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LiteratureReview：证据链 + 1-3 条可验证假设 + 知识缺口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技术深潜：结构化证据链与五层反幻觉防线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EvidenceLink 数据模型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188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原子级事实主张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supporting_pmids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支持该主张的真实 PMID 列表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828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strong / moderate / weak / unverified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strength_justification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强度分类依据（强制填写）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counter_evidence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468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反面证据（如有）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条硬矛盾检测 (@ __post_init__)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1887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strong/moderate → 必须有 PMID</a:t>
            </a:r>
            <a:endParaRPr lang="en-US" sz="13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存在 counter_evidence → 不能为 strong</a:t>
            </a:r>
            <a:endParaRPr lang="en-US" sz="13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strength ≠ unverified → 必须有 justification</a:t>
            </a:r>
            <a:endParaRPr lang="en-US" sz="13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无 PMID 且无反面证据 → 强制 unverified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8595360" cy="1737360"/>
          </a:xfrm>
          <a:prstGeom prst="roundRect">
            <a:avLst>
              <a:gd name="adj" fmla="val 3158"/>
            </a:avLst>
          </a:prstGeom>
          <a:solidFill>
            <a:srgbClr val="F5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24612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273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五层反幻觉防线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1508760" cy="1097280"/>
          </a:xfrm>
          <a:prstGeom prst="roundRect">
            <a:avLst>
              <a:gd name="adj" fmla="val 5000"/>
            </a:avLst>
          </a:prstGeom>
          <a:solidFill>
            <a:srgbClr val="E5F5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758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9136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5条硬规则嵌入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system prompt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21408" y="3657600"/>
            <a:ext cx="1508760" cy="1097280"/>
          </a:xfrm>
          <a:prstGeom prst="roundRect">
            <a:avLst>
              <a:gd name="adj" fmla="val 5000"/>
            </a:avLst>
          </a:prstGeom>
          <a:solidFill>
            <a:srgbClr val="F0E6F5"/>
          </a:solidFill>
          <a:ln/>
        </p:spPr>
      </p:sp>
      <p:sp>
        <p:nvSpPr>
          <p:cNvPr id="26" name="Text 24"/>
          <p:cNvSpPr/>
          <p:nvPr/>
        </p:nvSpPr>
        <p:spPr>
          <a:xfrm>
            <a:off x="2121408" y="36758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67128" y="39136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67128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EvidenceLink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4条硬矛盾检测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85616" y="3657600"/>
            <a:ext cx="1508760" cy="1097280"/>
          </a:xfrm>
          <a:prstGeom prst="roundRect">
            <a:avLst>
              <a:gd name="adj" fmla="val 5000"/>
            </a:avLst>
          </a:prstGeom>
          <a:solidFill>
            <a:srgbClr val="E4F0F8"/>
          </a:solidFill>
          <a:ln/>
        </p:spPr>
      </p:sp>
      <p:sp>
        <p:nvSpPr>
          <p:cNvPr id="30" name="Text 28"/>
          <p:cNvSpPr/>
          <p:nvPr/>
        </p:nvSpPr>
        <p:spPr>
          <a:xfrm>
            <a:off x="3785616" y="36758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31336" y="39136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31336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PMID/基因名/统计量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程序化检查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49824" y="3657600"/>
            <a:ext cx="1508760" cy="1097280"/>
          </a:xfrm>
          <a:prstGeom prst="roundRect">
            <a:avLst>
              <a:gd name="adj" fmla="val 5000"/>
            </a:avLst>
          </a:prstGeom>
          <a:solidFill>
            <a:srgbClr val="E0F2EF"/>
          </a:solidFill>
          <a:ln/>
        </p:spPr>
      </p:sp>
      <p:sp>
        <p:nvSpPr>
          <p:cNvPr id="34" name="Text 32"/>
          <p:cNvSpPr/>
          <p:nvPr/>
        </p:nvSpPr>
        <p:spPr>
          <a:xfrm>
            <a:off x="5449824" y="36758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95544" y="39136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95544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3节点纯规则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Agent间互检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14032" y="3657600"/>
            <a:ext cx="1508760" cy="1097280"/>
          </a:xfrm>
          <a:prstGeom prst="roundRect">
            <a:avLst>
              <a:gd name="adj" fmla="val 5000"/>
            </a:avLst>
          </a:prstGeom>
          <a:solidFill>
            <a:srgbClr val="FBEBE9"/>
          </a:solidFill>
          <a:ln/>
        </p:spPr>
      </p:sp>
      <p:sp>
        <p:nvSpPr>
          <p:cNvPr id="38" name="Text 36"/>
          <p:cNvSpPr/>
          <p:nvPr/>
        </p:nvSpPr>
        <p:spPr>
          <a:xfrm>
            <a:off x="7114032" y="36758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59752" y="39136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审阅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59752" y="4251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strong claims 标记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[HUMAN REVIEW]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2：OrchestrationAgent / 规划师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输入：LiteratureReview（假设 + 证据链 + 知识缺口）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对每个假设进行分类 → 决定 DAG 规模：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single_gene_prognostic → 小型 DAG (2-3 节点)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pathway_mechanism → 中型 DAG (4-6 节点)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multi_gene_drug → 大型 DAG (5+ 节点)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每个节点强制包含 rationale 字段（解释为什么选这个方法）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方法兼容矩阵后处理校验 → 不通过则重新规划（最多 2 次）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输出：AnalysisPlan（有向无环图）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777240"/>
            <a:ext cx="2651760" cy="2926080"/>
          </a:xfrm>
          <a:prstGeom prst="roundRect">
            <a:avLst>
              <a:gd name="adj" fmla="val 2069"/>
            </a:avLst>
          </a:prstGeom>
          <a:solidFill>
            <a:srgbClr val="FBEBE9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82296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868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与固定模板的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关键区别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463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不同输入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 DAG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不同分析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E4F0F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CSTB 案例：3 条假设 → 4 个分析节点（差异表达 + 免疫关联 + 生存分析 + 药物筛选）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3：AnalysisAgent / 实验师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三层数据访问策略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389120" cy="822960"/>
          </a:xfrm>
          <a:prstGeom prst="roundRect">
            <a:avLst>
              <a:gd name="adj" fmla="val 6667"/>
            </a:avLst>
          </a:prstGeom>
          <a:solidFill>
            <a:srgbClr val="E0F2E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缓存查询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DEG / Cox / KM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从预计算 JSON 直接读取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389120" cy="822960"/>
          </a:xfrm>
          <a:prstGeom prst="roundRect">
            <a:avLst>
              <a:gd name="adj" fmla="val 6667"/>
            </a:avLst>
          </a:prstGeom>
          <a:solidFill>
            <a:srgbClr val="E4F0F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实时 Python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 / 药物 / 相关性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pandas + scipy.stats 实时算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389120" cy="822960"/>
          </a:xfrm>
          <a:prstGeom prst="roundRect">
            <a:avLst>
              <a:gd name="adj" fmla="val 6667"/>
            </a:avLst>
          </a:prstGeom>
          <a:solidFill>
            <a:srgbClr val="FDEDE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F4 降级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缓存未命中且不支持实时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 degraded，诚实跳过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F1-F5 失败恢复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1143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瞬时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143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自动重试 3 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1527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 参数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1527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换方法重试 → 升级 F4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19110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 方法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911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Cox PH 违反 → 降级 KM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22951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F4 数据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295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 degraded，继续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2679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 未知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679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记录日志，继续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每个节点记录 why（工具选择）/ what（实际操作）/ result_interpretation（LLM 解释）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4：ReportAgent / 主编 + Layer 4 交叉验证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0E6F5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868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→ A1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证据链一致性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假设-证据对应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置信度合理性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BLOCKER: 链条为空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E4F0F8"/>
          </a:solidFill>
          <a:ln/>
        </p:spPr>
      </p:sp>
      <p:sp>
        <p:nvSpPr>
          <p:cNvPr id="9" name="Text 7"/>
          <p:cNvSpPr/>
          <p:nvPr/>
        </p:nvSpPr>
        <p:spPr>
          <a:xfrm>
            <a:off x="3319272" y="868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→ A2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2344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数据源存在性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基因名有效性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方法合理性(矩阵)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BLOCKER: 全部缺失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82296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FBEBE9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868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→ A3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2344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统计量合理性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跨节点矛盾检测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效应量阈值检查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BLOCKER: 全部失败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F0E6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2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纯规则驱动，无 LLM 调用 — 关键词匹配 + 路径检查 + 统计量范围 + 效应量阈值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ReportAgent / 主编 — 强制 6 节结构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6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 →  Methods  →  Results  →  Negative &amp; Null Findings  →  Discussion  →  Conclusion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BEBE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 "Negative and Null Findings" 节 — 未发现的内容与发现同等重要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Benchmark：5 任务 × 4 维度 × 4 基线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个任务：T1 文献检索 / T2 基因-疾病关联 / T3 差异表达 / T4 生存分析 / T5 药物筛选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维指标：Completion (0.15) / Tool Selection (0.25) / Correctness (0.35) / Safety (0.25)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个基线：B1 Naive LLM / B2 ReAct / B3 Simple RAG / B4 Domain ReAct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 连续惩罚函数（无硬门槛 cliff effect）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822960"/>
            <a:ext cx="2743200" cy="2103120"/>
          </a:xfrm>
          <a:prstGeom prst="roundRect">
            <a:avLst>
              <a:gd name="adj" fmla="val 2609"/>
            </a:avLst>
          </a:prstGeom>
          <a:solidFill>
            <a:srgbClr val="F5F6F8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86868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868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T3-DEG 初步结果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Naive LLM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35240" y="12344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92440" y="1234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63640" y="15270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ReAct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35240" y="1527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1527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崩溃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8196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Simple RAG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35240" y="18196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0.575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18196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标记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21122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 Domain ReAct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35240" y="21122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92440" y="21122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崩溃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404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Pipeline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35240" y="2404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92440" y="24048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降级*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880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GT 构建：T1 PubMed 高引+时间分层 | T2 DisGeNET+OpenTargets 双源 | T3-T5 ITIP/CSTB（标注 exploratory）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FBEBE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单任务、单数据集 (TCGA-COAD)、单次运行。不可泛化。全量矩阵 (~150K tokens) 待运行。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S3 Pipeline 在 benchmark 模式下降级是预期行为 — Task Router 按 task_id 分派，T3-DEG 跳过 LiteratureAgent（文献探员）直接进入分析阶段。Pipeline 为端到端研究问题设计，非单任务 benchmark。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案例研究：CSTB 在结直肠癌中的完整闭环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011680" cy="150876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82296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" y="10515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文献探员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37160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162.5s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16459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篇论文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条假设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2011680" cy="150876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9050">
            <a:solidFill>
              <a:srgbClr val="0E66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82296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96312" y="10515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规划师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137160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52.6s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96312" y="16459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个分析节点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(DAG)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777240"/>
            <a:ext cx="2011680" cy="150876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9050">
            <a:solidFill>
              <a:srgbClr val="5B2C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82296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90872" y="10515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实验师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90872" y="137160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76.7s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90872" y="16459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完成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降级 (免疫)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777240"/>
            <a:ext cx="2011680" cy="150876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82296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85432" y="105156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主编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85432" y="137160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42.3s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5432" y="16459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9,447 字符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结构化报告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2514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总耗时：334 秒  ·  Token：5,153  ·  Layer 4 WARNING：2 条（均正确捕获数据问题）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576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关键发现与问题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DEG 缓存错误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94560" y="3291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logFC=0.073 vs GT≈2.3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291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数据管线 bug（非缓存架构问题）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630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免疫相关性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94560" y="3630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degraded (F4)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6301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无缓存 — 诚实降级而非编造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9684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Cox 生存分析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194560" y="3968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HR=1.46, p=0.053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968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边缘不显著，预后更差趋势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3068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交叉验证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4306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条 WARNING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4306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正确捕获效应量问题 + 免疫数据缺失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已知局限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4864" cy="54864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单队列 (TCGA-COAD, n≈300)、单案例 (CSTB)。不可泛化。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54864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框架完整实现（102 测试），但全量 agent×task 矩阵未运行 (~150K tokens)。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002536"/>
            <a:ext cx="54864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568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预计算缓存限制分析灵活性。非标准分析降级为 F4。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569464"/>
            <a:ext cx="54864" cy="54864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237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CSTB 缓存数据有误 (logFC=0.073 vs GT≈2.3) — 数据管线 bug，根因未定位。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136392"/>
            <a:ext cx="54864" cy="54864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90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thinking mode token 压力 — 长响应可能截断 JSON。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54864" cy="54864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无并发 — 4 Agent 串行。挂钟时间随 LLM API 延迟线性增长。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438912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E0F2E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这些局限在 README、技术报告和所有文档中前置展示，不藏在讨论章节里。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731520"/>
            <a:ext cx="9144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BioMed-Agent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核心贡献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四智能体协作架构 — 连接文献综述与多组学分析的完整管线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结构化证据链 (EvidenceLink) — 5 层反幻觉防线，数据模型级约束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标准化评测框架 — 5 任务 × 4 维度 × 4 基线（已实现，已测试）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CSTB-CRC 端到端案例 — 334 秒完整闭环，诚实报告失败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840480"/>
            <a:ext cx="8412480" cy="13716"/>
          </a:xfrm>
          <a:prstGeom prst="rect">
            <a:avLst/>
          </a:prstGeom>
          <a:solidFill>
            <a:srgbClr val="C8CDD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977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github.com/Tubo2333/biomed-agent    ·    技术报告：paper/report.md    ·    文档：README / ARCHITECTURE / CASE_STUDY / FAQ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BioMed-Agent</dc:title>
  <dc:subject>PptxGenJS Presentation</dc:subject>
  <dc:creator>BioMed-Agent</dc:creator>
  <cp:lastModifiedBy>BioMed-Agent</cp:lastModifiedBy>
  <cp:revision>1</cp:revision>
  <dcterms:created xsi:type="dcterms:W3CDTF">2026-06-19T12:51:10Z</dcterms:created>
  <dcterms:modified xsi:type="dcterms:W3CDTF">2026-06-19T12:51:10Z</dcterms:modified>
</cp:coreProperties>
</file>